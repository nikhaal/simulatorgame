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4" r:id="rId7"/>
    <p:sldId id="275" r:id="rId8"/>
    <p:sldId id="261" r:id="rId9"/>
    <p:sldId id="273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2" r:id="rId20"/>
  </p:sldIdLst>
  <p:sldSz cx="12192000" cy="6858000"/>
  <p:notesSz cx="6858000" cy="9144000"/>
  <p:embeddedFontLst>
    <p:embeddedFont>
      <p:font typeface="Arial Narrow" panose="020B0606020202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58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</a:rPr>
              <a:t>20CS8504 &amp; PROJECT WORK</a:t>
            </a:r>
            <a:endParaRPr b="1" dirty="0">
              <a:latin typeface="Arial Narrow"/>
              <a:sym typeface="Arial Narrow"/>
            </a:endParaRPr>
          </a:p>
          <a:p>
            <a:pPr marL="0" indent="0" algn="ctr">
              <a:buSzPts val="2400"/>
              <a:buNone/>
            </a:pPr>
            <a:r>
              <a:rPr lang="en-IN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lang="en-IN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No.:02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Date:30.03.2026</a:t>
            </a: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/>
                <a:ea typeface="Arial Narrow"/>
                <a:cs typeface="Arial Narrow"/>
                <a:sym typeface="Arial Narrow"/>
              </a:rPr>
              <a:t>Session:FN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638175"/>
            <a:ext cx="12119100" cy="143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buSzPts val="3600"/>
              <a:buNone/>
            </a:pPr>
            <a:r>
              <a:rPr lang="en-IN" sz="3600" b="1" dirty="0">
                <a:latin typeface="Arial Narrow"/>
                <a:ea typeface="Arial Narrow"/>
                <a:cs typeface="Arial Narrow"/>
                <a:sym typeface="Arial Narrow"/>
              </a:rPr>
              <a:t>AN INTELLIGENT FRAMEWORK FOR MODELING AND SIMULATING STARTUP BUSINESS PROCESS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383555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indent="0">
              <a:buSzPts val="2400"/>
              <a:buNone/>
            </a:pPr>
            <a:r>
              <a:rPr lang="en-US" sz="2400" b="1" dirty="0" err="1">
                <a:latin typeface="Arial Narrow"/>
                <a:ea typeface="Arial Narrow"/>
                <a:cs typeface="Arial Narrow"/>
                <a:sym typeface="Arial Narrow"/>
              </a:rPr>
              <a:t>Mrs.S.GAYATHRI</a:t>
            </a: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  AP/CSE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5944102" y="3594414"/>
            <a:ext cx="5332996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KAVIN KIRTHIK R P	   (811722104071)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NIKHAAL AHAMED A K  (811722104101)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RAJESH R		   (811722104117)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362075"/>
            <a:ext cx="10515600" cy="303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</a:t>
            </a:r>
            <a:r>
              <a:rPr lang="en-IN" dirty="0">
                <a:latin typeface="Arial Narrow" panose="020B0606020202030204" pitchFamily="34" charset="0"/>
              </a:rPr>
              <a:t>Simulates the process of choosing a startup domains such as tech, healthcare, e-commerce, etc. based on market demand, risk level, and investment requirements.</a:t>
            </a:r>
            <a:endParaRPr lang="en-IN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IN" dirty="0">
                <a:latin typeface="Arial Narrow" panose="020B0606020202030204" pitchFamily="34" charset="0"/>
              </a:rPr>
              <a:t> Allows players to recruit employees based on skills, salary, and experience within a limited budget.</a:t>
            </a:r>
            <a:endParaRPr lang="en-IN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IN" dirty="0">
                <a:latin typeface="Arial Narrow" panose="020B0606020202030204" pitchFamily="34" charset="0"/>
              </a:rPr>
              <a:t> Simulates legal setup by allowing players to choose company type (Private Ltd, LLP, etc.) and complete compliance procedures.</a:t>
            </a: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 panose="020B0606020202030204" pitchFamily="34" charset="0"/>
              </a:rPr>
              <a:t>4. Enables players to design product features, set pricing, allocate marketing budget, and launch the product.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40750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</a:rPr>
              <a:t>1.</a:t>
            </a:r>
            <a:r>
              <a:rPr lang="en-IN" dirty="0">
                <a:latin typeface="Arial Narrow" panose="020B0606020202030204" pitchFamily="34" charset="0"/>
              </a:rPr>
              <a:t> This project presents an intelligent startup simulation game that models real-world business processes using Unity and Large Language Models (LLM).</a:t>
            </a:r>
            <a:endParaRPr lang="en-IN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just"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IN" dirty="0">
                <a:latin typeface="Arial Narrow" panose="020B0606020202030204" pitchFamily="34" charset="0"/>
              </a:rPr>
              <a:t> The system aims to provide an interactive platform where users can experience the lifecycle of a startup through gamified learning.</a:t>
            </a:r>
            <a:endParaRPr lang="en-IN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just"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IN" dirty="0">
                <a:latin typeface="Arial Narrow" panose="020B0606020202030204" pitchFamily="34" charset="0"/>
              </a:rPr>
              <a:t> The framework integrates an LLM through the </a:t>
            </a:r>
            <a:r>
              <a:rPr lang="en-IN" dirty="0" err="1">
                <a:latin typeface="Arial Narrow" panose="020B0606020202030204" pitchFamily="34" charset="0"/>
              </a:rPr>
              <a:t>Ollama</a:t>
            </a:r>
            <a:r>
              <a:rPr lang="en-IN" dirty="0">
                <a:latin typeface="Arial Narrow" panose="020B0606020202030204" pitchFamily="34" charset="0"/>
              </a:rPr>
              <a:t> server to generate dynamic business scenarios, feedback, and market analysis in real time.</a:t>
            </a:r>
            <a:endParaRPr lang="en-IN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just"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4.</a:t>
            </a:r>
            <a:r>
              <a:rPr lang="en-IN" dirty="0">
                <a:latin typeface="Arial Narrow" panose="020B0606020202030204" pitchFamily="34" charset="0"/>
              </a:rPr>
              <a:t> The game simulates four major phases of a startup: Domain Selection, Employee Hiring, Company Registration, and Product Deployment.</a:t>
            </a:r>
          </a:p>
          <a:p>
            <a:pPr marL="0" lvl="0" indent="0" algn="just"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5.</a:t>
            </a:r>
            <a:r>
              <a:rPr lang="en-IN" dirty="0">
                <a:latin typeface="Arial Narrow" panose="020B0606020202030204" pitchFamily="34" charset="0"/>
              </a:rPr>
              <a:t> By combining AI intelligence with game mechanics, the project enhances entrepreneurial skills, strategic thinking, and decision-making abilities.</a:t>
            </a:r>
            <a:endParaRPr lang="en-IN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>
                <a:solidFill>
                  <a:schemeClr val="dk1"/>
                </a:solidFill>
              </a:rPr>
              <a:t>5</a:t>
            </a:fld>
            <a:endParaRPr sz="1600"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32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E24895-30C8-431C-0D6E-A35062665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304709"/>
              </p:ext>
            </p:extLst>
          </p:nvPr>
        </p:nvGraphicFramePr>
        <p:xfrm>
          <a:off x="485255" y="450214"/>
          <a:ext cx="11201920" cy="6288282"/>
        </p:xfrm>
        <a:graphic>
          <a:graphicData uri="http://schemas.openxmlformats.org/drawingml/2006/table">
            <a:tbl>
              <a:tblPr firstRow="1" bandRow="1">
                <a:tableStyleId>{3CDD818E-ADFA-4579-856F-A3140DA02BD1}</a:tableStyleId>
              </a:tblPr>
              <a:tblGrid>
                <a:gridCol w="2800480">
                  <a:extLst>
                    <a:ext uri="{9D8B030D-6E8A-4147-A177-3AD203B41FA5}">
                      <a16:colId xmlns:a16="http://schemas.microsoft.com/office/drawing/2014/main" val="547583895"/>
                    </a:ext>
                  </a:extLst>
                </a:gridCol>
                <a:gridCol w="2024966">
                  <a:extLst>
                    <a:ext uri="{9D8B030D-6E8A-4147-A177-3AD203B41FA5}">
                      <a16:colId xmlns:a16="http://schemas.microsoft.com/office/drawing/2014/main" val="1778709419"/>
                    </a:ext>
                  </a:extLst>
                </a:gridCol>
                <a:gridCol w="3833894">
                  <a:extLst>
                    <a:ext uri="{9D8B030D-6E8A-4147-A177-3AD203B41FA5}">
                      <a16:colId xmlns:a16="http://schemas.microsoft.com/office/drawing/2014/main" val="2301428278"/>
                    </a:ext>
                  </a:extLst>
                </a:gridCol>
                <a:gridCol w="2542580">
                  <a:extLst>
                    <a:ext uri="{9D8B030D-6E8A-4147-A177-3AD203B41FA5}">
                      <a16:colId xmlns:a16="http://schemas.microsoft.com/office/drawing/2014/main" val="975840314"/>
                    </a:ext>
                  </a:extLst>
                </a:gridCol>
              </a:tblGrid>
              <a:tr h="5701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AUTHORS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PAPER GIST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814720"/>
                  </a:ext>
                </a:extLst>
              </a:tr>
              <a:tr h="15474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/>
                        <a:t>Promoting entrepreneurial intentions and competencies through business simulation games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 err="1"/>
                        <a:t>Silitonga</a:t>
                      </a:r>
                      <a:r>
                        <a:rPr lang="en-IN" sz="1600" dirty="0"/>
                        <a:t>, L. M., </a:t>
                      </a:r>
                      <a:r>
                        <a:rPr lang="en-IN" sz="1600" dirty="0" err="1"/>
                        <a:t>Dharmawan</a:t>
                      </a:r>
                      <a:r>
                        <a:rPr lang="en-IN" sz="1600" dirty="0"/>
                        <a:t>, B., 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Explains how business simulation games improve entrepreneurial thinking, decision-making skills, and practical business knowledge among students.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/>
                        <a:t>Entrepreneurship simulation games, digital gamified learning platforms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405107"/>
                  </a:ext>
                </a:extLst>
              </a:tr>
              <a:tr h="15474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/>
                        <a:t>Serious games in higher education in the transforming process to Education 4.0—Systematized review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600" dirty="0"/>
                        <a:t>Brandl, L. C., &amp; Schrader, A.</a:t>
                      </a:r>
                      <a:endParaRPr lang="de-DE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Reviews how serious games support Education 4.0 by improving interactive learning, digital skills, and student engagement.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/>
                        <a:t>Digital serious games, Education 4.0 technologies, interactive learning platforms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695396"/>
                  </a:ext>
                </a:extLst>
              </a:tr>
              <a:tr h="10587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/>
                        <a:t>Learner engagement in a business simulation game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a-DK" sz="1600" dirty="0"/>
                        <a:t>Huang, Y.-M., Murti, </a:t>
                      </a:r>
                      <a:r>
                        <a:rPr lang="de-DE" sz="1600" dirty="0"/>
                        <a:t>A. T., &amp; Wu, T.-T.</a:t>
                      </a:r>
                      <a:endParaRPr lang="de-DE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Discusses how business simulation games increase student participation, motivation, and active learning in entrepreneurship education.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/>
                        <a:t>Digital business simulation game, interactive learning systems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917541"/>
                  </a:ext>
                </a:extLst>
              </a:tr>
              <a:tr h="15474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/>
                        <a:t>Business simulation games for the development of intrinsic motivation-boosting sustainability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dirty="0"/>
                        <a:t>Vélez, A., Alonso, R. K., &amp; Rico-González, M.</a:t>
                      </a:r>
                      <a:endParaRPr lang="es-ES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Shows how simulation games motivate learners to understand sustainable business practices and responsible decision making.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/>
                        <a:t>Digital sustainability simulation games, gamified learning platforms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4198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F17426-E4C2-7261-CB40-3C7813C396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4F996A-6051-4C81-14B6-04EC09DA2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039322"/>
              </p:ext>
            </p:extLst>
          </p:nvPr>
        </p:nvGraphicFramePr>
        <p:xfrm>
          <a:off x="546754" y="490195"/>
          <a:ext cx="10916240" cy="5946113"/>
        </p:xfrm>
        <a:graphic>
          <a:graphicData uri="http://schemas.openxmlformats.org/drawingml/2006/table">
            <a:tbl>
              <a:tblPr firstRow="1" bandRow="1">
                <a:tableStyleId>{3CDD818E-ADFA-4579-856F-A3140DA02BD1}</a:tableStyleId>
              </a:tblPr>
              <a:tblGrid>
                <a:gridCol w="2729060">
                  <a:extLst>
                    <a:ext uri="{9D8B030D-6E8A-4147-A177-3AD203B41FA5}">
                      <a16:colId xmlns:a16="http://schemas.microsoft.com/office/drawing/2014/main" val="1698304930"/>
                    </a:ext>
                  </a:extLst>
                </a:gridCol>
                <a:gridCol w="1686711">
                  <a:extLst>
                    <a:ext uri="{9D8B030D-6E8A-4147-A177-3AD203B41FA5}">
                      <a16:colId xmlns:a16="http://schemas.microsoft.com/office/drawing/2014/main" val="3451968764"/>
                    </a:ext>
                  </a:extLst>
                </a:gridCol>
                <a:gridCol w="3771409">
                  <a:extLst>
                    <a:ext uri="{9D8B030D-6E8A-4147-A177-3AD203B41FA5}">
                      <a16:colId xmlns:a16="http://schemas.microsoft.com/office/drawing/2014/main" val="3105500446"/>
                    </a:ext>
                  </a:extLst>
                </a:gridCol>
                <a:gridCol w="2729060">
                  <a:extLst>
                    <a:ext uri="{9D8B030D-6E8A-4147-A177-3AD203B41FA5}">
                      <a16:colId xmlns:a16="http://schemas.microsoft.com/office/drawing/2014/main" val="3313703963"/>
                    </a:ext>
                  </a:extLst>
                </a:gridCol>
              </a:tblGrid>
              <a:tr h="4813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AUTHORS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PAPER GIST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613962"/>
                  </a:ext>
                </a:extLst>
              </a:tr>
              <a:tr h="18142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Computer-based business games in higher education: A proposal of a gamified learning framework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2000" dirty="0" err="1"/>
                        <a:t>Grijalvo</a:t>
                      </a:r>
                      <a:r>
                        <a:rPr lang="es-ES" sz="2000" dirty="0"/>
                        <a:t>, M., Segura, A., &amp; Núñez, Y.</a:t>
                      </a:r>
                      <a:endParaRPr lang="es-ES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Proposes a gamified learning framework using computer-based business games to improve strategic thinking and learning outcomes.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Computer-based business games, gamified digital learning framework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599629"/>
                  </a:ext>
                </a:extLst>
              </a:tr>
              <a:tr h="14045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Business simulation games in higher education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Faisal, N., </a:t>
                      </a:r>
                      <a:r>
                        <a:rPr lang="en-IN" sz="2000" dirty="0" err="1"/>
                        <a:t>Chadhar</a:t>
                      </a:r>
                      <a:r>
                        <a:rPr lang="en-IN" sz="2000" dirty="0"/>
                        <a:t>, M. 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Explains the benefits of business simulation games for teaching management concepts, teamwork, and business strategy.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Computer-based business, digital learning environments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341997"/>
                  </a:ext>
                </a:extLst>
              </a:tr>
              <a:tr h="14045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The effect of mobile business simulation games in entrepreneurship education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dirty="0"/>
                        <a:t>Chen, J., Tang, L., Tian, H., Ou</a:t>
                      </a:r>
                      <a:endParaRPr lang="fr-FR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Examines how mobile-based business simulation games enhance entrepreneurship learning and improve student understanding of startup processes.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Mobile-based business simulation games, digital learning platforms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155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43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518051-3965-2BC0-025E-04405F7AE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E3C2D5-FD6D-AC78-CCDD-FD81FA4F9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507769"/>
              </p:ext>
            </p:extLst>
          </p:nvPr>
        </p:nvGraphicFramePr>
        <p:xfrm>
          <a:off x="600075" y="198120"/>
          <a:ext cx="11125200" cy="6461760"/>
        </p:xfrm>
        <a:graphic>
          <a:graphicData uri="http://schemas.openxmlformats.org/drawingml/2006/table">
            <a:tbl>
              <a:tblPr firstRow="1" bandRow="1">
                <a:tableStyleId>{3CDD818E-ADFA-4579-856F-A3140DA02BD1}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3126294834"/>
                    </a:ext>
                  </a:extLst>
                </a:gridCol>
                <a:gridCol w="2206901">
                  <a:extLst>
                    <a:ext uri="{9D8B030D-6E8A-4147-A177-3AD203B41FA5}">
                      <a16:colId xmlns:a16="http://schemas.microsoft.com/office/drawing/2014/main" val="1070369433"/>
                    </a:ext>
                  </a:extLst>
                </a:gridCol>
                <a:gridCol w="3637860">
                  <a:extLst>
                    <a:ext uri="{9D8B030D-6E8A-4147-A177-3AD203B41FA5}">
                      <a16:colId xmlns:a16="http://schemas.microsoft.com/office/drawing/2014/main" val="2210252083"/>
                    </a:ext>
                  </a:extLst>
                </a:gridCol>
                <a:gridCol w="2499139">
                  <a:extLst>
                    <a:ext uri="{9D8B030D-6E8A-4147-A177-3AD203B41FA5}">
                      <a16:colId xmlns:a16="http://schemas.microsoft.com/office/drawing/2014/main" val="3370975367"/>
                    </a:ext>
                  </a:extLst>
                </a:gridCol>
              </a:tblGrid>
              <a:tr h="6689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AUTHORS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PAPER GIST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247261"/>
                  </a:ext>
                </a:extLst>
              </a:tr>
              <a:tr h="1832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Business simulation games analysis supported by human-computer interfaces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2000" dirty="0"/>
                        <a:t>Ferreira, C. P., González-González, C. S., &amp; </a:t>
                      </a:r>
                      <a:r>
                        <a:rPr lang="es-ES" sz="2000" dirty="0" err="1"/>
                        <a:t>Adamatti</a:t>
                      </a:r>
                      <a:r>
                        <a:rPr lang="es-ES" sz="2000" dirty="0"/>
                        <a:t>, D. F.</a:t>
                      </a:r>
                      <a:endParaRPr lang="es-ES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study shows that interactive simulations improve learning, engagement, and decision-making skills in business environments.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Human-Computer Interface (HCI), digital simulation systems, interactive gaming environments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973885"/>
                  </a:ext>
                </a:extLst>
              </a:tr>
              <a:tr h="1832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Education for sustainable development through business simulation games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2000" dirty="0"/>
                        <a:t>Gatti, L., Ulrich, M., &amp; Seele, P.</a:t>
                      </a:r>
                      <a:endParaRPr lang="de-DE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This research studies how business simulation games can be used to teach sustainability concepts.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Sustainability-focused business simulation games, gamification platforms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239719"/>
                  </a:ext>
                </a:extLst>
              </a:tr>
              <a:tr h="1832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Application of Serious Game Model on Simulation Training for Decision Makings of Project Management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2000" dirty="0"/>
                        <a:t>Chen, H.-M., &amp; Wei, K.-W.</a:t>
                      </a:r>
                      <a:endParaRPr lang="de-DE" sz="20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It shows that simulation-based games improve decision-making ability, problem solving, and practical understanding of project management situations.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Serious game model, decision-making simulation systems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143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977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2F91D2-3A7D-3AD1-2E09-AA8E96102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884" y="727725"/>
            <a:ext cx="7108722" cy="60136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740228" y="1034142"/>
            <a:ext cx="11163013" cy="4871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1.</a:t>
            </a:r>
            <a:r>
              <a:rPr lang="en-IN" sz="2800" b="1" dirty="0">
                <a:latin typeface="Arial Narrow" panose="020B0606020202030204" pitchFamily="34" charset="0"/>
              </a:rPr>
              <a:t> Lack of Practical Startup Learning</a:t>
            </a:r>
            <a:r>
              <a:rPr lang="en-IN" sz="2800" dirty="0">
                <a:latin typeface="Arial Narrow" panose="020B0606020202030204" pitchFamily="34" charset="0"/>
              </a:rPr>
              <a:t> – Many students learn entrepreneurship only through theory without real-world simulation.</a:t>
            </a:r>
            <a:endParaRPr lang="en-US" sz="2800" dirty="0">
              <a:latin typeface="Arial Narrow" panose="020B0606020202030204" pitchFamily="34" charset="0"/>
            </a:endParaRPr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2.</a:t>
            </a:r>
            <a:r>
              <a:rPr lang="en-IN" sz="2800" b="1" dirty="0">
                <a:latin typeface="Arial Narrow" panose="020B0606020202030204" pitchFamily="34" charset="0"/>
              </a:rPr>
              <a:t> Limited Interactive Business Training Tools</a:t>
            </a:r>
            <a:r>
              <a:rPr lang="en-IN" sz="2800" dirty="0">
                <a:latin typeface="Arial Narrow" panose="020B0606020202030204" pitchFamily="34" charset="0"/>
              </a:rPr>
              <a:t> – Existing systems do not provide interactive environments to practice startup decision-making.</a:t>
            </a:r>
            <a:endParaRPr lang="en-US" sz="2800" dirty="0">
              <a:latin typeface="Arial Narrow" panose="020B0606020202030204" pitchFamily="34" charset="0"/>
            </a:endParaRPr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3.</a:t>
            </a:r>
            <a:r>
              <a:rPr lang="en-IN" sz="2800" b="1" dirty="0">
                <a:latin typeface="Arial Narrow" panose="020B0606020202030204" pitchFamily="34" charset="0"/>
              </a:rPr>
              <a:t> Difficulty in Understanding Business Strategies</a:t>
            </a:r>
            <a:r>
              <a:rPr lang="en-IN" sz="2800" dirty="0">
                <a:latin typeface="Arial Narrow" panose="020B0606020202030204" pitchFamily="34" charset="0"/>
              </a:rPr>
              <a:t> – Beginners often struggle to understand funding, marketing, and resource management concepts.</a:t>
            </a:r>
            <a:endParaRPr lang="en-US" sz="2800" dirty="0">
              <a:latin typeface="Arial Narrow" panose="020B0606020202030204" pitchFamily="34" charset="0"/>
            </a:endParaRPr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4.</a:t>
            </a:r>
            <a:r>
              <a:rPr lang="en-IN" sz="2800" b="1" dirty="0">
                <a:latin typeface="Arial Narrow" panose="020B0606020202030204" pitchFamily="34" charset="0"/>
              </a:rPr>
              <a:t> Absence of Intelligent Feedback Systems</a:t>
            </a:r>
            <a:r>
              <a:rPr lang="en-IN" sz="2800" dirty="0">
                <a:latin typeface="Arial Narrow" panose="020B0606020202030204" pitchFamily="34" charset="0"/>
              </a:rPr>
              <a:t> – Most simulation platforms do not </a:t>
            </a:r>
            <a:r>
              <a:rPr lang="en-IN" sz="2800" dirty="0" err="1">
                <a:latin typeface="Arial Narrow" panose="020B0606020202030204" pitchFamily="34" charset="0"/>
              </a:rPr>
              <a:t>analyze</a:t>
            </a:r>
            <a:r>
              <a:rPr lang="en-IN" sz="2800" dirty="0">
                <a:latin typeface="Arial Narrow" panose="020B0606020202030204" pitchFamily="34" charset="0"/>
              </a:rPr>
              <a:t> user decisions or provide AI-based suggestions.</a:t>
            </a:r>
            <a:endParaRPr lang="en-US" sz="2800" dirty="0">
              <a:latin typeface="Arial Narrow" panose="020B0606020202030204" pitchFamily="34" charset="0"/>
            </a:endParaRPr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5.</a:t>
            </a:r>
            <a:r>
              <a:rPr lang="en-IN" sz="2800" b="1" dirty="0">
                <a:latin typeface="Arial Narrow" panose="020B0606020202030204" pitchFamily="34" charset="0"/>
              </a:rPr>
              <a:t> Lack of Realistic Startup Simulation Platforms</a:t>
            </a:r>
            <a:r>
              <a:rPr lang="en-IN" sz="2800" dirty="0">
                <a:latin typeface="Arial Narrow" panose="020B0606020202030204" pitchFamily="34" charset="0"/>
              </a:rPr>
              <a:t> – There are very few platforms that simulate the complete startup lifecycle from idea selection to product deployment.</a:t>
            </a:r>
            <a:endParaRPr lang="en-US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F8F702-4EAA-0DB2-A1C7-DFD399FF9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708000"/>
            <a:ext cx="10287000" cy="53238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-9606" y="371475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55999" y="2539370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pt-BR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1.8GB RAM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pt-BR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2.Core i5 processor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pt-BR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3.256 GB SSD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pt-BR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4.Nvidia Rtx 2050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211957" y="2539370"/>
            <a:ext cx="5909174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/>
                <a:ea typeface="Arial Narrow"/>
                <a:cs typeface="Arial Narrow"/>
                <a:sym typeface="Arial Narrow"/>
              </a:rPr>
              <a:t>1. Windows 11</a:t>
            </a: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/>
                <a:ea typeface="Arial Narrow"/>
                <a:cs typeface="Arial Narrow"/>
                <a:sym typeface="Arial Narrow"/>
              </a:rPr>
              <a:t>2. Unity game engine</a:t>
            </a: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/>
                <a:ea typeface="Arial Narrow"/>
                <a:cs typeface="Arial Narrow"/>
                <a:sym typeface="Arial Narrow"/>
              </a:rPr>
              <a:t>3. </a:t>
            </a:r>
            <a:r>
              <a:rPr lang="en-IN" dirty="0" err="1">
                <a:latin typeface="Arial Narrow"/>
                <a:ea typeface="Arial Narrow"/>
                <a:cs typeface="Arial Narrow"/>
                <a:sym typeface="Arial Narrow"/>
              </a:rPr>
              <a:t>Ollama</a:t>
            </a:r>
            <a:endParaRPr lang="en-IN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Startup Business Process Modeling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AI-Driven Decision Support </a:t>
            </a: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Startup Lifecycle Simulation </a:t>
            </a: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4. Dynamic Market &amp; Resource Management </a:t>
            </a: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5. Performance Evaluation &amp; Startup Growth Analytics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200" y="1026695"/>
            <a:ext cx="6637421" cy="5150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lvl="2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3100" dirty="0">
                <a:solidFill>
                  <a:schemeClr val="tx1"/>
                </a:solidFill>
                <a:latin typeface="Arial Narrow" panose="020B0606020202030204" pitchFamily="34" charset="0"/>
              </a:rPr>
              <a:t>Creates a coherent virtual environment that represents an evolving economic and decision-driven world.</a:t>
            </a:r>
          </a:p>
          <a:p>
            <a:pPr marL="457200" lvl="2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3100" dirty="0">
                <a:solidFill>
                  <a:schemeClr val="tx1"/>
                </a:solidFill>
                <a:latin typeface="Arial Narrow" panose="020B0606020202030204" pitchFamily="34" charset="0"/>
              </a:rPr>
              <a:t>Defines relationships between entities such as players, resources, markets, and external forces within the environment.</a:t>
            </a:r>
          </a:p>
          <a:p>
            <a:pPr marL="457200" lvl="2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3100" dirty="0">
                <a:solidFill>
                  <a:schemeClr val="tx1"/>
                </a:solidFill>
                <a:latin typeface="Arial Narrow" panose="020B0606020202030204" pitchFamily="34" charset="0"/>
              </a:rPr>
              <a:t>Establishes rules that govern interactions, progression, and consequences inside the simulated world.</a:t>
            </a:r>
          </a:p>
          <a:p>
            <a:pPr marL="457200" lvl="2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3100" dirty="0">
                <a:solidFill>
                  <a:schemeClr val="tx1"/>
                </a:solidFill>
                <a:latin typeface="Arial Narrow" panose="020B0606020202030204" pitchFamily="34" charset="0"/>
              </a:rPr>
              <a:t>Designs a logical flow that ensures consistency, realism, and continuity across different stages of the environment.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9376E7-A51E-938D-65ED-B07CD8935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642" y="1026695"/>
            <a:ext cx="4330149" cy="48008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674971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2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rial Narrow" panose="020B0606020202030204" pitchFamily="34" charset="0"/>
              </a:rPr>
              <a:t>Defines structured workflow of startup phases (domain to deployment).</a:t>
            </a:r>
          </a:p>
          <a:p>
            <a:pPr marL="457200" lvl="2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rial Narrow" panose="020B0606020202030204" pitchFamily="34" charset="0"/>
              </a:rPr>
              <a:t>Maps real-world business activities into system processes.</a:t>
            </a:r>
          </a:p>
          <a:p>
            <a:pPr marL="457200" lvl="2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rial Narrow" panose="020B0606020202030204" pitchFamily="34" charset="0"/>
              </a:rPr>
              <a:t>Models decision points based on entrepreneurial strategies.</a:t>
            </a:r>
          </a:p>
          <a:p>
            <a:pPr marL="457200" lvl="2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chemeClr val="tx1"/>
                </a:solidFill>
                <a:latin typeface="Arial Narrow" panose="020B0606020202030204" pitchFamily="34" charset="0"/>
              </a:rPr>
              <a:t>Establishs</a:t>
            </a:r>
            <a:r>
              <a:rPr lang="en-US" altLang="en-US" sz="2800" dirty="0">
                <a:solidFill>
                  <a:schemeClr val="tx1"/>
                </a:solidFill>
                <a:latin typeface="Arial Narrow" panose="020B0606020202030204" pitchFamily="34" charset="0"/>
              </a:rPr>
              <a:t> rules, constraints, and business logic.</a:t>
            </a:r>
          </a:p>
          <a:p>
            <a:pPr marL="457200" lvl="2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rial Narrow" panose="020B0606020202030204" pitchFamily="34" charset="0"/>
              </a:rPr>
              <a:t>Aligns simulation flow with startup lifecycle theory.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C6C872-72BA-5D65-5B77-9CB6842DB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517" y="1066545"/>
            <a:ext cx="4275483" cy="47896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86201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Integrates LLM via </a:t>
            </a:r>
            <a:r>
              <a:rPr lang="en-US" alt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Ollama</a:t>
            </a: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for intelligent response generation.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Provides real-time business insights and recommendations.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Generates dynamic market scenarios and risk analysis.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Evaluates player decisions using AI reasoning.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Simulates investor, customer, and competitor feedback.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AF385C-79C7-9A10-5960-BFA85D48D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11" y="1421294"/>
            <a:ext cx="4491789" cy="54367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71828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Implements four startup phases as progressive game levels.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Simulates real-time business decision-making environment.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Allows player interaction with strategic choices.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Tracks experience points (XP) and level progression.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Creates immersive startup ecosystem using Unity engine.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19E4E-D80B-52E7-8A5A-DC96ECD73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566" y="1302026"/>
            <a:ext cx="3995356" cy="51411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838200" y="1273209"/>
            <a:ext cx="816665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Simulates market demand and competition fluctuations.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Manages financial resources and operational costs.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Evaluates employee performance and productivity impact.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Adjusts business outcomes based on resource allocation.</a:t>
            </a:r>
          </a:p>
          <a:p>
            <a:pPr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Introduces uncertainty and risk factors dynamically.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775650" y="10255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The proposed framework successfully models and simulates real-world startup business processes through an interactive game environment.</a:t>
            </a:r>
          </a:p>
          <a:p>
            <a:pPr lvl="0" indent="-4572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Integration of LLM via </a:t>
            </a:r>
            <a:r>
              <a:rPr lang="en-US" alt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Ollama</a:t>
            </a: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enhances intelligent decision-making and dynamic scenario generation.</a:t>
            </a:r>
          </a:p>
          <a:p>
            <a:pPr lvl="0" indent="-4572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The system effectively improves strategic thinking, risk analysis, and entrepreneurial skills.</a:t>
            </a:r>
          </a:p>
          <a:p>
            <a:pPr lvl="0" indent="-4572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Unity-based simulation creates an engaging and experiential learning platform.</a:t>
            </a:r>
          </a:p>
          <a:p>
            <a:pPr lvl="0" indent="-4572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The project demonstrates that AI-driven business simulation games can support startup education and decision-making development.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18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IN" b="1" dirty="0">
                <a:latin typeface="Arial Narrow" panose="020B0606020202030204" pitchFamily="34" charset="0"/>
              </a:rPr>
              <a:t>Multiplayer Mode</a:t>
            </a:r>
            <a:r>
              <a:rPr lang="en-IN" dirty="0">
                <a:latin typeface="Arial Narrow" panose="020B0606020202030204" pitchFamily="34" charset="0"/>
              </a:rPr>
              <a:t> – Allow multiple players to create and manage startups in the same virtual market.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IN" b="1" dirty="0">
                <a:latin typeface="Arial Narrow" panose="020B0606020202030204" pitchFamily="34" charset="0"/>
              </a:rPr>
              <a:t> Advanced AI Support</a:t>
            </a:r>
            <a:r>
              <a:rPr lang="en-IN" dirty="0">
                <a:latin typeface="Arial Narrow" panose="020B0606020202030204" pitchFamily="34" charset="0"/>
              </a:rPr>
              <a:t> – Improve AI decision analysis using advanced machine learning techniques.</a:t>
            </a:r>
            <a:r>
              <a:rPr lang="en-IN" b="1" dirty="0">
                <a:latin typeface="Arial Narrow" panose="020B0606020202030204" pitchFamily="34" charset="0"/>
              </a:rPr>
              <a:t> 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IN" b="1" dirty="0">
                <a:latin typeface="Arial Narrow" panose="020B0606020202030204" pitchFamily="34" charset="0"/>
              </a:rPr>
              <a:t>More Business Domains</a:t>
            </a:r>
            <a:r>
              <a:rPr lang="en-IN" dirty="0">
                <a:latin typeface="Arial Narrow" panose="020B0606020202030204" pitchFamily="34" charset="0"/>
              </a:rPr>
              <a:t> – Add more startup sectors like finance, healthcare, agriculture, and technology.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IN" b="1" dirty="0">
                <a:latin typeface="Arial Narrow" panose="020B0606020202030204" pitchFamily="34" charset="0"/>
              </a:rPr>
              <a:t>Better Graphics and UI</a:t>
            </a:r>
            <a:r>
              <a:rPr lang="en-IN" dirty="0">
                <a:latin typeface="Arial Narrow" panose="020B0606020202030204" pitchFamily="34" charset="0"/>
              </a:rPr>
              <a:t> – Improve game visuals, animations, and user interface for a better user experience.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endParaRPr lang="en-IN" dirty="0">
              <a:latin typeface="Arial Narrow" panose="020B0606020202030204" pitchFamily="34" charset="0"/>
            </a:endParaRP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19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B7638A-893B-4619-743A-1AA3C98B0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1402</Words>
  <Application>Microsoft Office PowerPoint</Application>
  <PresentationFormat>Widescreen</PresentationFormat>
  <Paragraphs>162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 Narrow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rajesh r</cp:lastModifiedBy>
  <cp:revision>14</cp:revision>
  <dcterms:modified xsi:type="dcterms:W3CDTF">2026-03-26T12:10:34Z</dcterms:modified>
</cp:coreProperties>
</file>